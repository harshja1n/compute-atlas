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familiar developer experience. Rate limits have several causes; do not equate every limit with a GPU shortage. Then pivot: whatever the product policy, serving AI needs physical infrastructure.
Source: https://platform.claude.com/docs/en/api/rate-limits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is processing infrastructure for training and inference. A GPU order does not by itself create usable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IEA updated projection for global data-centre electricity consumption; roughly 3% of global demand by 2030. All data centres, not only AI. Use this consumption series consistently; do not mix with the older report's generation figures.
Source: https://www.iea.org/reports/key-questions-on-energy-and-ai/executive-summary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as stated in the 'AI Token Factory' presentation: the four largest US tech companies projected to spend about $725 billion on AI infrastructure in 2026, described as 1.2x the inflation-adjusted cost of the US Interstate Highway System; Goldman Sachs projection of $7.6 trillion of build-out 2026-2031. We have not verified these against primary sources; say 'as reported in the video'. The librarian/writer framing: search retrieves from an index for fractions of a cent; generation computes every word, 10x to 100x the cost per query.
Source: https://www.youtube.com/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Six-step journey of a query as described in the video. Steps 2 to 5 all happen inside a data centre: the API gateway, tokenisation, prefill (building the KV cache, the model's working memory) and decode (one token at a time, the whole network run for every word). Point at the middle four boxes: that is the building we are siting. Fibre carries light at roughly two thirds of the speed of light in vacuum.
Source: https://www.youtube.com/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stated in the video, for the US market: a traditional rack draws 5-10 kW; an Nvidia GB200 rack about 120 kW; next-generation Vera Rubin projected around 600 kW. Air cooling is effective to roughly 30-50 kW per rack, so flagship racks require liquid cooling. Grid interconnection queues of 4-5 years; high-voltage transformer lead times from about 1 year to nearly 4. PUE around 1.1 for modern liquid-cooled facilities versus near 2.0 for older ones. Chips, memory and networking are supply-chain problems that ship eventually; the building, its grid connection and its heat rejection are the gating item, and that is a siting problem. India's grid and approvals differ, so treat the numbers as the shape of the problem, not local values.
Source: https://www.youtube.com/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IndiaAI reported more than 38,000 GPUs empaneled through 14 providers in March 2026, with another 20,000 being added under a process then underway. Empaneled capacity is not continuously available capacity and not a homogeneous benchmark.
Source: https://www.pib.gov.in/PressReleasePage.aspx?PRID=2239614&amp;lang=2&amp;reg=3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that countries with the most compute are the most profitable. Countries have no company-style profit measure and correlation would not establish causation. Compute is one enabling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Founders Chase Lochmiller and Cully Cavness. Early strategy brought computing to energy sources including stranded gas. Spark introduced 26 June 2025 as a prefabricated modular AI data centre; 'as fast as three months' is a vendor claim. Series F: initial closing of an anticipated $3.9B round at $30.9B post-money, announced 17 September 2026. Funding is not profit. Compute Atlas has no affiliation with Crusoe. Spark is not a nuclear reactor.
Source: https://www.crusoe.ai/resources/newsroom/crusoe-announces-series-f-funding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principles shape the product; they are not endorsements of any energy scenario. Nuclear and flare-gas remain research scenarios needing specialist engineering and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20 MW IT campus: PUE 1.3, utilisation 0.8, WUE 0.5 L per IT-kWh, tariff INR 7/kWh. Full-load connection = IT MW x PUE = 26 MW; utilisation is excluded because the connection must carry peak. Average facility = 20.8 MW; annual = 182,208 MWh; cost = INR 127.5456 crore; water = 192,000 L/day. Assumptions, not quotations.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claim-check register. Each row is a real pattern in site marketing and early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data plan: NASA POWER and PeeringDB were retrieved; CEA power maps failed web access; Bhuvan flood portal reachable but no parcel extract; Aqueduct documented but basin-scale. Utility letters, land title and supply agreements exist only as private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customer hypothesis: boutique data-centre engineering and site-selection advisory firms. The analyst uses it repeatedly; the practice head buys. Secondary users listed. Avoid pitching every AI developer as the buyer: they feel the constraint but rarely acquire land or utility connections. No confirmed customers or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Measure: analyst time to a sourced shortlist; hard constraints surfaced before detailed design; share of findings with valid citations; correction rate after expert review; return for a second project. Do not promise a percentage time saving before a pilot measures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Civarea: public marketing page inspected only; private product, model quality, adoption and coverage not established; its speed and coverage figures are vendor claims that do not transfer to us. Open-source engines: TerraSelect (EU, Apache-2.0), CERF-DC (US, BSD-3), Decision Explorer (MIT), OSDCI (US). None installed or executed; licenses checked from documentation. Advisory firms such as Colliers show the workflow exists. India alone is not a moat.
Source: https://www.civarea.com/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prepared for judges. Why a map: sites have geography. Why AI: documents and requirements differ per project; the model interprets and chooses investigations while numbers stay deterministic. Why now: demand growth, Indian compute access and modular options widen the set of places worth investigating.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problem statement from the bundle. Three things the room should remember: AI has physical requirements; location choices combine interacting constraints; an intelligent system can tell us what it knows and what still needs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claude.com/docs/en/api/rate-limi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ea.org/reports/key-questions-on-energy-and-ai/executive-summa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ib.gov.in/PressReleasePage.aspx?PRID=2239614&amp;lang=2&amp;reg=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rusoe.ai/resources/newsroom/crusoe-announces-series-f-fund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ivarea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DECK 1 OF 2 · PROBLEM, INSPIRATION, FACTS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build an AI factory,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site can support it.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siting AI data centres in India is an evidence problem, not a map problem — and why the answer has to say what it does not know.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Bhopal Claude Code Build Day · 20 September 2026 · Every external figure carries its source; forecasts are labelled as forecasts.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19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Anthropic API rate-limit documentation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 hit a rate limit while building?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is part of the story. So are usage tiers, spend controls and abuse prevention — Anthropic's own documentation lists all of them.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0911535" cy="1463040"/>
          </a:xfrm>
          <a:prstGeom prst="roundRect">
            <a:avLst>
              <a:gd name="adj" fmla="val 6250"/>
            </a:avLst>
          </a:prstGeom>
          <a:solidFill>
            <a:srgbClr val="122330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291840"/>
            <a:ext cx="102714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the policy, every AI response still has a physical address. Somewhere, chips need electricity, cooling and a network.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 where should the next facility go — and how would you know the site can carry it?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COMPUTE ACTUALLY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GPU order does not create usable compute.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compute at scale is a chain of physical dependencies. Every link has to hold at a specific place.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862072"/>
            <a:ext cx="45720" cy="90525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83464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&amp; NETWORKING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1248" y="313639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everyone talks about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68698" y="269748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68698" y="286207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69866" y="283464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DEPENDABLE ELECTRICITY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69866" y="313639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full load, on a date, under contract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097317" y="269748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7317" y="286207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8485" y="283464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REMOVAL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98485" y="313639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design, water or dry systems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27939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42519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PERMISSION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41248" y="455371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buildable area, zoning, rights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368698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68698" y="427939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69866" y="42519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69866" y="455371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fibre routes, diversity, latency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8097317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97317" y="427939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98485" y="42519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CAPITAL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298485" y="455371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uptime, financing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· FORECAST, NOT A MEASUREMENT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IEA, Energy and AI updated outlook (2026)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electricity demand is projected to nearly double.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</a:t>
            </a:r>
            <a:pPr indent="0" marL="0">
              <a:buNone/>
            </a:pPr>
            <a:r>
              <a:rPr lang="en-US" sz="24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TWh  </a:t>
            </a:r>
            <a:pPr indent="0" marL="0">
              <a:buNone/>
            </a:pPr>
            <a:r>
              <a:rPr lang="en-US" sz="600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88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950</a:t>
            </a:r>
            <a:pPr indent="0" marL="0">
              <a:buNone/>
            </a:pPr>
            <a:r>
              <a:rPr lang="en-US" sz="24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TWh</a:t>
            </a:r>
            <a:endParaRPr lang="en-US" sz="88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· about 3% of global electricity demand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48056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4645152"/>
            <a:ext cx="45720" cy="76809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617720"/>
            <a:ext cx="10591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CAREFULLY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41248" y="491947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projection of consumption, not metered demand. The same outlook flags supply-chain bottlenecks and uncertain investment returns. Growth in demand is exactly why the siting question gets harder, not easier.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BECAME HEAVY INDUSTRY · THIRD-PARTY FIGURES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"AI Token Factory" video presentation (YouTube) · figures as stated in the video, not independently verified by 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used to have zero marginal cost. Now it is measured in megawatts.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30552"/>
            <a:ext cx="45720" cy="149961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1031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 INFRASTRUCTURE SPEND · FOUR HYPERSCALERS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35000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$725B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41248" y="29900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1.2× the inflation-adjusted cost of the entire US Interstate Highway System, in one year.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965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2130552"/>
            <a:ext cx="45720" cy="149961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44568" y="21031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BUILD-OUT 2026–2031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44568" y="235000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$7.6T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4544568" y="29900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Goldman Sachs projection as cited in the video. A projection, not a commitment.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1965960"/>
            <a:ext cx="3504895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6720" y="2130552"/>
            <a:ext cx="45720" cy="149961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47888" y="2103120"/>
            <a:ext cx="3184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QUERY · GENERATION VS SEARCH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247888" y="2350008"/>
            <a:ext cx="3184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10–100×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8247888" y="2990088"/>
            <a:ext cx="3139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retrieves from an index. A model computes every word from scratch.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069080"/>
            <a:ext cx="10911535" cy="1600200"/>
          </a:xfrm>
          <a:prstGeom prst="roundRect">
            <a:avLst>
              <a:gd name="adj" fmla="val 5714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4160520"/>
            <a:ext cx="1027145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is a librarian. </a:t>
            </a:r>
            <a:pPr indent="0" marL="0"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finds a page that already exists, in milliseconds, for a fraction of a cent.
</a:t>
            </a:r>
            <a:pPr indent="0" marL="0">
              <a:buNone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is a writer. </a:t>
            </a:r>
            <a:pPr indent="0" marL="0"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hundreds of billions of arithmetic operations to produce each token, then does it again for the next one. That labour is electricity, and electricity has an address.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TRIP · WHAT HAPPENS TO ONE QUESTION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"AI Token Factory" video presentation (YouTube) · figures as stated in the video, not independently verified by 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prompt takes a physical trip. Four of its six steps happen inside one building.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397709" y="1920240"/>
            <a:ext cx="7396277" cy="2880360"/>
          </a:xfrm>
          <a:prstGeom prst="roundRect">
            <a:avLst>
              <a:gd name="adj" fmla="val 3810"/>
            </a:avLst>
          </a:prstGeom>
          <a:solidFill>
            <a:srgbClr val="0E1B27"/>
          </a:solidFill>
          <a:ln w="12700">
            <a:solidFill>
              <a:srgbClr val="43DFC3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2489149" y="1965960"/>
            <a:ext cx="72133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DATA CENTRE  ·  THE BUILDING WE ARE SITING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1666189" cy="2331720"/>
          </a:xfrm>
          <a:prstGeom prst="roundRect">
            <a:avLst>
              <a:gd name="adj" fmla="val 4390"/>
            </a:avLst>
          </a:prstGeom>
          <a:solidFill>
            <a:srgbClr val="09131C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423160"/>
            <a:ext cx="14467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The trip out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9808" y="2898648"/>
            <a:ext cx="144673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to a tower, then light through fibre at about ⅔ the speed of light.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9149" y="2331720"/>
            <a:ext cx="1666189" cy="2331720"/>
          </a:xfrm>
          <a:prstGeom prst="roundRect">
            <a:avLst>
              <a:gd name="adj" fmla="val 4390"/>
            </a:avLst>
          </a:prstGeom>
          <a:solidFill>
            <a:srgbClr val="122330"/>
          </a:solidFill>
          <a:ln w="9525">
            <a:solidFill>
              <a:srgbClr val="43DF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98877" y="2423160"/>
            <a:ext cx="14467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The front door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598877" y="2898648"/>
            <a:ext cx="144673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API gateway checks identity, limits and loads the conversation context.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38218" y="2331720"/>
            <a:ext cx="1666189" cy="2331720"/>
          </a:xfrm>
          <a:prstGeom prst="roundRect">
            <a:avLst>
              <a:gd name="adj" fmla="val 4390"/>
            </a:avLst>
          </a:prstGeom>
          <a:solidFill>
            <a:srgbClr val="122330"/>
          </a:solidFill>
          <a:ln w="9525">
            <a:solidFill>
              <a:srgbClr val="43DFC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47946" y="2423160"/>
            <a:ext cx="14467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Tokenisation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47946" y="2898648"/>
            <a:ext cx="144673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chopped into numeric pieces, about ¾ of a word each.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87288" y="2331720"/>
            <a:ext cx="1666189" cy="2331720"/>
          </a:xfrm>
          <a:prstGeom prst="roundRect">
            <a:avLst>
              <a:gd name="adj" fmla="val 4390"/>
            </a:avLst>
          </a:prstGeom>
          <a:solidFill>
            <a:srgbClr val="122330"/>
          </a:solidFill>
          <a:ln w="9525">
            <a:solidFill>
              <a:srgbClr val="43DF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97016" y="2423160"/>
            <a:ext cx="14467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Prefill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297016" y="2898648"/>
            <a:ext cx="144673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 the whole prompt at once and builds its working memory, the KV cache.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36357" y="2331720"/>
            <a:ext cx="1666189" cy="2331720"/>
          </a:xfrm>
          <a:prstGeom prst="roundRect">
            <a:avLst>
              <a:gd name="adj" fmla="val 4390"/>
            </a:avLst>
          </a:prstGeom>
          <a:solidFill>
            <a:srgbClr val="122330"/>
          </a:solidFill>
          <a:ln w="9525">
            <a:solidFill>
              <a:srgbClr val="43DFC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46085" y="2423160"/>
            <a:ext cx="14467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Decode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146085" y="2898648"/>
            <a:ext cx="144673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token at a time. The entire network runs for every single word.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885426" y="2331720"/>
            <a:ext cx="1666189" cy="2331720"/>
          </a:xfrm>
          <a:prstGeom prst="roundRect">
            <a:avLst>
              <a:gd name="adj" fmla="val 4390"/>
            </a:avLst>
          </a:prstGeom>
          <a:solidFill>
            <a:srgbClr val="09131C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95154" y="2423160"/>
            <a:ext cx="14467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The trip home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995154" y="2898648"/>
            <a:ext cx="144673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stream back to the device the same way they came.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49834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is fast and the device is cheap. The expensive, slow, physical part of the trip is the building in the middle: its power feed, its cooling, its fibre and the years it takes to get all three.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BOTTLENECK IS NOW · THIRD-PARTY FIGURES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"AI Token Factory" video presentation (YouTube) · figures as stated in the video, not independently verified by 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ship eventually. The next bottleneck is the building.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856232"/>
            <a:ext cx="45720" cy="1636776"/>
          </a:xfrm>
          <a:prstGeom prst="rect">
            <a:avLst/>
          </a:prstGeom>
          <a:solidFill>
            <a:srgbClr val="FF8E91"/>
          </a:solidFill>
          <a:ln w="12700">
            <a:solidFill>
              <a:srgbClr val="FF8E9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82880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PER RACK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07568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→ 120 kW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41248" y="2715768"/>
            <a:ext cx="2156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traditional rack draws 5–10 kW; an Nvidia GB200 rack about 120 kW. Next generation projected near 600 kW.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36544" y="169164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36544" y="1856232"/>
            <a:ext cx="45720" cy="1636776"/>
          </a:xfrm>
          <a:prstGeom prst="rect">
            <a:avLst/>
          </a:prstGeom>
          <a:solidFill>
            <a:srgbClr val="FF8E91"/>
          </a:solidFill>
          <a:ln w="12700">
            <a:solidFill>
              <a:srgbClr val="FF8E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7712" y="182880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INTERCONNECTION WAIT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637712" y="207568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 years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637712" y="2715768"/>
            <a:ext cx="2156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queue times as stated. The grid was built for 1–2% annual growth.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33008" y="169164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3008" y="1856232"/>
            <a:ext cx="45720" cy="163677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4176" y="182880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LEAD TIME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34176" y="207568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~4 years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434176" y="2715768"/>
            <a:ext cx="2156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High-voltage transformers, from about a year to nearly four.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029471" y="169164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29471" y="1856232"/>
            <a:ext cx="45720" cy="163677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30639" y="182880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COOLING GIVES OUT AT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230639" y="207568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kW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230639" y="2715768"/>
            <a:ext cx="2156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rack. Beyond that, liquid cooling is mandatory, and liquid means water design.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" y="3886200"/>
            <a:ext cx="10911535" cy="1783080"/>
          </a:xfrm>
          <a:prstGeom prst="roundRect">
            <a:avLst>
              <a:gd name="adj" fmla="val 5128"/>
            </a:avLst>
          </a:prstGeom>
          <a:solidFill>
            <a:srgbClr val="122330"/>
          </a:solidFill>
          <a:ln w="15875">
            <a:solidFill>
              <a:srgbClr val="43DFC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0120" y="3977640"/>
            <a:ext cx="1027145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by layer, the constraint has moved down the stack. </a:t>
            </a:r>
            <a:pPr indent="0" marL="0">
              <a:buNone/>
            </a:pPr>
            <a:r>
              <a:rPr lang="en-US" sz="14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Chips, high-bandwidth memory and networking are supply-chain problems: scarce, expensive, but they ship. The grid connection, the substation, the transformer and the heat rejection do not ship. They are built, permitted and energised at one specific place over years.
</a:t>
            </a:r>
            <a:pPr indent="0" marL="0">
              <a:buNone/>
            </a:pPr>
            <a:r>
              <a:rPr lang="en-US" sz="1400" b="1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siting problem. </a:t>
            </a:r>
            <a:pPr indent="0" marL="0">
              <a:buNone/>
            </a:pPr>
            <a:r>
              <a:rPr lang="en-US" sz="14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grid, approvals and water differ from the US, so these numbers are the shape of the problem, not local values. The local values are exactly what nobody has in one place.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INDIA · DATED GOVERNMENT STATEMENT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PIB, IndiaAI compute empanelment (March 2026)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is expanding compute access — and will need places to put it.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76272"/>
            <a:ext cx="45720" cy="140817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14884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 EMPANELED · MARCH 2026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395728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38,000+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through 14 providers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41248" y="30358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20,000 were being added under a process then underway.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2011680"/>
            <a:ext cx="5333695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2176272"/>
            <a:ext cx="45720" cy="140817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9088" y="2148840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DOES NOT MEAN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19088" y="2450592"/>
            <a:ext cx="49679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Empaneled is not continuously available. The hardware is heterogeneous. It is a dated statement about a procurement pool, not a live capacity meter.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39776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access plus execution: helping capable teams turn ambitions into sites whose dependencies are understood. Local-language applications, research and industry can benefit from domestic access. Construction alone guarantees none of it.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DEFENSIBLE ECONOMIC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is an enabling input, not a scoreboard.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2384984" cy="137160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103120"/>
            <a:ext cx="21106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compute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98216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482264" y="2103120"/>
            <a:ext cx="2384984" cy="137160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9424" y="2103120"/>
            <a:ext cx="21106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Experimentation &amp; locally relevant services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0400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324448" y="2103120"/>
            <a:ext cx="2384984" cy="137160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1608" y="2103120"/>
            <a:ext cx="21106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adoption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82583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9166631" y="2103120"/>
            <a:ext cx="2384984" cy="137160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03791" y="2103120"/>
            <a:ext cx="21106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— only with demand, skills, software and viable economics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" y="3840480"/>
            <a:ext cx="1091153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claim: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"countries with the most compute are the most profitable." No league table exists that normalises accelerator capability, utilisation, cloud imports and exports, cost and adoption.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claim: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capacity, owning chips, operating a cloud profitably and capturing national value are four different things. Our product touches the first one: can this site host it at all?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· CRUSOE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Crusoe Series F announcement, 17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energy, then ask what compute it can carry.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6766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Energy-first.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Crusoe's early strategy brought computing to energy sources, including stranded gas, instead of assuming every workload starts at a conventional data-centre location.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facility sizes.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campuses and Spark, a prefabricated modular AI data centre integrating power, cooling, racks, monitoring and fire suppression (introduced 26 June 2025).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conviction.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September 2026: initial closing of an anticipated $3.9 billion Series F at a $30.9 billion post-money valuation.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0" y="1874520"/>
            <a:ext cx="3779215" cy="1920240"/>
          </a:xfrm>
          <a:prstGeom prst="roundRect">
            <a:avLst>
              <a:gd name="adj" fmla="val 4762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965960"/>
            <a:ext cx="332201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“controlling the infrastructure from electrons to tokens”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Lochmiller, Crusoe funding release, 17 Sep 2026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0" y="3977640"/>
            <a:ext cx="3779215" cy="1417320"/>
          </a:xfrm>
          <a:prstGeom prst="roundRect">
            <a:avLst>
              <a:gd name="adj" fmla="val 516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4142232"/>
            <a:ext cx="45720" cy="108813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73568" y="4114800"/>
            <a:ext cx="3459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HONEST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973568" y="4416552"/>
            <a:ext cx="341345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and valuation signal investor commitment, not audited profit. Spark's delivery speed is a vendor claim. We are a software screening product with no affiliation to Crusoe.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BORROW INTELLECTUALLY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ideas we took from the energy-first playbook.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and energy together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evaluate the site without the load it must carry.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868107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68107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9275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069275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versus modular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centralised and distributed deployment where it makes sense.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96134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96134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97302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297302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usable capacity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Energisation date matters as much as land price.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24161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24161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25329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525329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≠ deliverable power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renewable potential is not hourly reliability.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552188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52188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53356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753356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compute toward energy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latency, network and operations still hold.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0080" y="46634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and flare-gas supply stay research scenarios. Proximity to a generator is never a supply contract. Flexible batch training and latency-sensitive inference do not share uptime requirements.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FACTS OF A SITE · ILLUSTRATIVE ARITHMETIC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20 MW AI campus, in numbers a utility will ask about.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76272"/>
            <a:ext cx="45720" cy="149961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14884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CONNECTION AT FULL LOAD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39572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MW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41248" y="3035808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MW × PUE. Utilisation excluded on purpose.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36544" y="201168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36544" y="2176272"/>
            <a:ext cx="45720" cy="149961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7712" y="214884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ENERGY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637712" y="239572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1,82,208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MWh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637712" y="3035808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× 0.8 × 1.3 × 8,760 hours.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33008" y="201168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3008" y="2176272"/>
            <a:ext cx="45720" cy="149961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4176" y="214884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BILL PER YEAR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34176" y="239572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₹127.5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crore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434176" y="3035808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an assumed ₹7 per kWh.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029471" y="201168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29471" y="2176272"/>
            <a:ext cx="45720" cy="149961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30639" y="214884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WITHDRAWAL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230639" y="239572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1,92,000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L/day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9230639" y="3035808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WUE 0.5 litres per IT-kWh.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0080" y="411480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is a claim on someone else.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DISCOM must connect 26 MW by a date. A municipality or aquifer must give up 1.9 lakh litres a day. The land must be net buildable after setbacks. A carrier must run fibre.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 is power; MWh is energy.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 MW load running 24 hours uses 480 MWh. Mixing them up is the most common error in siting conversations.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SITING DECISIONS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gets mistaken for commitment.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529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3DF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map or the brochure says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3DF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actually establishes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high-voltage line runs past the parcel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context only. Not available MW, not a connection date, not redundancy.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 is a lake or river nearby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about water rights, treatment, seasonality or cooling design.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mean temperature is 35 °C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 context. Not a design-day wet-bulb; cannot size a cooling plant.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suitability score of 84/100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number that hides which requirement failed and which was never checked.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newer document says 30 MW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Newer is not authoritative. Issuer, scope, conditions and wording decide.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broker brief promises capacity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Indicative. Not a utility feasibility letter, and that is not a connection agreement.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PROBLEM IN INDIA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facts that decide a site are fragmented, and the decisive ones are private.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084832"/>
            <a:ext cx="45720" cy="6766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057400"/>
            <a:ext cx="10591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AND RETRIEVABLE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35915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climatology (NASA POWER), carrier facility inventory (PeeringDB), state boundaries (geoBoundaries).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227832"/>
            <a:ext cx="45720" cy="67665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3200400"/>
            <a:ext cx="10591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BUT NOT USABLE YET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41248" y="350215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power maps (access failed), NRSC Bhuvan flood hazard (no parcel extract), WRI Aqueduct water risk (basin scale).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4370832"/>
            <a:ext cx="45720" cy="676656"/>
          </a:xfrm>
          <a:prstGeom prst="rect">
            <a:avLst/>
          </a:prstGeom>
          <a:solidFill>
            <a:srgbClr val="FF8E91"/>
          </a:solidFill>
          <a:ln w="12700">
            <a:solidFill>
              <a:srgbClr val="FF8E9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4343400"/>
            <a:ext cx="10591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PRIVATE, AND DECISIVE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41248" y="464515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feasibility letters, sanctioned-load letters, connection agreements, land title, zoning, water allocations, broker briefs.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5440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private documents disagree with each other. A broker's 30 MW and a utility's conditional 12 MW can describe the same parcel in the same month. Today that contradiction is resolved in someone's head, or not at all.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DECISION THIS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of these sites deserves the next round of diligence, and what could invalidate it?"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313432"/>
            <a:ext cx="45720" cy="277977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28600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CUSTOMER HYPOTHESIS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587752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data-centre engineering and site-selection advisory firms.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analyst uses the workspace on every shortlist; a practice head buys it. Their project documents are the private evidence public maps cannot supply.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point: a paid pilot on a real three-to-six-site shortlist. A hypothesis, not a validated sale.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2148840"/>
            <a:ext cx="5242255" cy="3108960"/>
          </a:xfrm>
          <a:prstGeom prst="roundRect">
            <a:avLst>
              <a:gd name="adj" fmla="val 235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313432"/>
            <a:ext cx="45720" cy="277977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0528" y="2286000"/>
            <a:ext cx="4922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USERS AND WHAT THEY LOOK AT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10528" y="2587752"/>
            <a:ext cx="487649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expansion teams: repeatable screening.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technical-diligence teams: unresolved risks.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Industrial-park developers: what a parcel can host.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investment-promotion teams: which infrastructure gaps recur.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direct buyer: individual AI developers. They feel the constraint but do not acquire land or utility connections.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TO BE 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moments where the analyst needs a better instrument.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sites look attractive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what is supported by evidence from what is only claimed.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724912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274320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change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which sites just became infeasible, and why.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456432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347472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document contradicts the brief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affected assumptions and recompute.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" y="4187952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71600" y="420624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budget is limited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the questions that can change the decision.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4919472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71600" y="493776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recommend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 concise, traceable evidence pack.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" y="5650992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TODAY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Civarea public product page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tools exist. None is built for this evidence problem.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291840"/>
                <a:gridCol w="28648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3DF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3DF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3DF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learned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3DF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gap we see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screening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Civarea, DC Byte Site Selector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Polygon-led screening, evidence views, exports. Speed and coverage figures are vendor claims.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India-focused; unknowns folded into scores.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Open-source siting engines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TerraSelect (EU), CERF-DC (US), OSDCI (US), Decision Explorer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Transparent pass/fail and cost structures; EU and US data and weights.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unknown or conflict state; no private-document reconciliation.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Advisory practice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Data-centre advisory teams at large brokerages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workflow is real and repeated; evidence lives in documents and heads.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reconciliation; nothing versioned or exportable.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9834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alone is not a moat. A durable advantage would need local evidence integrations, expert-reviewed workflows and measured reliability. For now these are product hypotheses, not proven unique capabilities.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DESIGN QUESTIONS THE PROBLEM FORCES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31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map, why an agent, why now.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084832"/>
            <a:ext cx="45720" cy="296265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057400"/>
            <a:ext cx="3103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MAP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359152"/>
            <a:ext cx="305805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have neighbours: substations, carrier facilities, rivers, other candidates. Geography makes those relationships inspectable. It is not proof of feasibility by itself.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3938" y="192024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3938" y="2084832"/>
            <a:ext cx="45720" cy="29626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85106" y="2057400"/>
            <a:ext cx="3103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AGENT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85106" y="2359152"/>
            <a:ext cx="305805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brings different documents, requirements and gaps. Something has to read them, notice contradictions and decide which check comes next. The arithmetic must never be that something.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127797" y="192024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27797" y="2084832"/>
            <a:ext cx="45720" cy="296265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8965" y="2057400"/>
            <a:ext cx="3103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328965" y="2359152"/>
            <a:ext cx="305805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projected to nearly double by 2030. India is empaneling tens of thousands of GPUs. Modular facilities widen the set of places worth investigating. More sites, same fragmented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914400"/>
            <a:ext cx="73152" cy="2194560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868680"/>
            <a:ext cx="1054577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investigates whether a proposed Indian data-centre site can meet a project's requirements — and shows exactly what remains unproven.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822192"/>
            <a:ext cx="45720" cy="140817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37947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1248" y="4096512"/>
            <a:ext cx="30885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 physical requirements.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Power, cooling, water, land, fibre, time.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68698" y="3657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68698" y="3822192"/>
            <a:ext cx="45720" cy="140817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69866" y="37947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69866" y="4096512"/>
            <a:ext cx="30885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choices combine interacting constraints.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requirement change can flip a site.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097317" y="3657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7317" y="3822192"/>
            <a:ext cx="45720" cy="140817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8485" y="37947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98485" y="4096512"/>
            <a:ext cx="30885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system says what it knows and what still needs proof.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is an answer. So is conflict.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F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2 shows how Compute Atlas does this, what we chose not to do, and what we measured.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 Atlas — The problem</dc:title>
  <dc:subject>PptxGenJS Presentation</dc:subject>
  <dc:creator>Compute Atlas</dc:creator>
  <cp:lastModifiedBy>Compute Atlas</cp:lastModifiedBy>
  <cp:revision>1</cp:revision>
  <dcterms:created xsi:type="dcterms:W3CDTF">2026-09-20T08:06:29Z</dcterms:created>
  <dcterms:modified xsi:type="dcterms:W3CDTF">2026-09-20T08:06:29Z</dcterms:modified>
</cp:coreProperties>
</file>