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with a familiar developer experience. Rate limits have several causes; do not equate every limit with a GPU shortage. Then pivot: whatever the product policy, serving AI needs physical infrastructure.
Source: https://platform.claude.com/docs/en/api/rate-limits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Compute is processing infrastructure for training and inference. A GPU order does not by itself create usable capacity.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IEA updated projection for global data-centre electricity consumption; roughly 3% of global demand by 2030. All data centres, not only AI. Use this consumption series consistently; do not mix with the older report's generation figures.
Source: https://www.iea.org/reports/key-questions-on-energy-and-ai/executive-summary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IndiaAI reported more than 38,000 GPUs empaneled through 14 providers in March 2026, with another 20,000 being added under a process then underway. Empaneled capacity is not continuously available capacity and not a homogeneous benchmark.
Source: https://www.pib.gov.in/PressReleasePage.aspx?PRID=2239614&amp;lang=2&amp;reg=3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claim that countries with the most compute are the most profitable. Countries have no company-style profit measure and correlation would not establish causation. Compute is one enabling input.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Founders Chase Lochmiller and Cully Cavness. Early strategy brought computing to energy sources including stranded gas. Spark introduced 26 June 2025 as a prefabricated modular AI data centre; 'as fast as three months' is a vendor claim. Series F: initial closing of an anticipated $3.9B round at $30.9B post-money, announced 17 September 2026. Funding is not profit. Compute Atlas has no affiliation with Crusoe. Spark is not a nuclear reactor.
Source: https://www.crusoe.ai/resources/newsroom/crusoe-announces-series-f-funding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principles shape the product; they are not endorsements of any energy scenario. Nuclear and flare-gas remain research scenarios needing specialist engineering and approvals.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Illustrative 20 MW IT campus: PUE 1.3, utilisation 0.8, WUE 0.5 L per IT-kWh, tariff INR 7/kWh. Full-load connection = IT MW x PUE = 26 MW; utilisation is excluded because the connection must carry peak. Average facility = 20.8 MW; annual = 182,208 MWh; cost = INR 127.5456 crore; water = 192,000 L/day. Assumptions, not quotations.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the claim-check register. Each row is a real pattern in site marketing and early diligence.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the data plan: NASA POWER and PeeringDB were retrieved; CEA power maps failed web access; Bhuvan flood portal reachable but no parcel extract; Aqueduct documented but basin-scale. Utility letters, land title and supply agreements exist only as private documents.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customer hypothesis: boutique data-centre engineering and site-selection advisory firms. The analyst uses it repeatedly; the practice head buys. Secondary users listed. Avoid pitching every AI developer as the buyer: they feel the constraint but rarely acquire land or utility connections. No confirmed customers or revenue.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Measure: analyst time to a sourced shortlist; hard constraints surfaced before detailed design; share of findings with valid citations; correction rate after expert review; return for a second project. Do not promise a percentage time saving before a pilot measures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Civarea: public marketing page inspected only; private product, model quality, adoption and coverage not established; its speed and coverage figures are vendor claims that do not transfer to us. Open-source engines: TerraSelect (EU, Apache-2.0), CERF-DC (US, BSD-3), Decision Explorer (MIT), OSDCI (US). None installed or executed; licenses checked from documentation. Advisory firms such as Colliers show the workflow exists. India alone is not a moat.
Source: https://www.civarea.com/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prepared for judges. Why a map: sites have geography. Why AI: documents and requirements differ per project; the model interprets and chooses investigations while numbers stay deterministic. Why now: demand growth, Indian compute access and modular options widen the set of places worth investigating.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Final problem statement from the bundle. Three things the room should remember: AI has physical requirements; location choices combine interacting constraints; an intelligent system can tell us what it knows and what still needs checking.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platform.claude.com/docs/en/api/rate-limits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ea.org/reports/key-questions-on-energy-and-ai/executive-summary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pib.gov.in/PressReleasePage.aspx?PRID=2239614&amp;lang=2&amp;reg=3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crusoe.ai/resources/newsroom/crusoe-announces-series-f-funding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civarea.com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1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3DFC3"/>
          </a:solidFill>
          <a:ln w="12700">
            <a:solidFill>
              <a:srgbClr val="43DFC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463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43DF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 ATLAS · DECK 1 OF 2 · PROBLEM, INSPIRATION, FACTS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1874520"/>
            <a:ext cx="105156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0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you build an AI factory,</a:t>
            </a:r>
            <a:endParaRPr lang="en-US" sz="5400" dirty="0"/>
          </a:p>
          <a:p>
            <a:pPr indent="0" marL="0">
              <a:buNone/>
            </a:pPr>
            <a:r>
              <a:rPr lang="en-US" sz="5400" b="1" dirty="0">
                <a:solidFill>
                  <a:srgbClr val="F0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 the site can support it.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96012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siting AI data centres in India is an evidence problem, not a map problem — and why the answer has to say what it does not know.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5852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for the Bhopal Claude Code Build Day · 20 September 2026 · Every external figure carries its source; forecasts are labelled as forecasts.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637215" y="63550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16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91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3DF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HOOK</a:t>
            </a:r>
            <a:endParaRPr lang="en-US" sz="1100" dirty="0"/>
          </a:p>
        </p:txBody>
      </p:sp>
      <p:sp>
        <p:nvSpPr>
          <p:cNvPr id="3" name="Text 1">
            <a:hlinkClick r:id="rId1" tooltip=""/>
          </p:cNvPr>
          <p:cNvSpPr/>
          <p:nvPr/>
        </p:nvSpPr>
        <p:spPr>
          <a:xfrm>
            <a:off x="640080" y="635508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6F859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Source: Anthropic API rate-limit documentation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10637215" y="63550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16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6291072"/>
            <a:ext cx="10911535" cy="0"/>
          </a:xfrm>
          <a:prstGeom prst="line">
            <a:avLst/>
          </a:prstGeom>
          <a:noFill/>
          <a:ln w="9525">
            <a:solidFill>
              <a:srgbClr val="1F314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731520"/>
            <a:ext cx="10911535" cy="10058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0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 hit a rate limit while building?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640080" y="1874520"/>
            <a:ext cx="10911535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is part of the story. So are usage tiers, spend controls and abuse prevention — Anthropic's own documentation lists all of them.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40080" y="3200400"/>
            <a:ext cx="10911535" cy="1463040"/>
          </a:xfrm>
          <a:prstGeom prst="roundRect">
            <a:avLst>
              <a:gd name="adj" fmla="val 6250"/>
            </a:avLst>
          </a:prstGeom>
          <a:solidFill>
            <a:srgbClr val="122330"/>
          </a:solidFill>
          <a:ln w="12700">
            <a:solidFill>
              <a:srgbClr val="43DFC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60120" y="3291840"/>
            <a:ext cx="1027145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0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Whatever the policy, every AI response still has a physical address. Somewhere, chips need electricity, cooling and a network.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0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So: where should the next facility go — and how would you know the site can carry it?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91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3DF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COMPUTE ACTUALLY 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35508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 Atlas · Bhopal Claude Code Build Day · 20 September 2026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10637215" y="63550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16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6291072"/>
            <a:ext cx="10911535" cy="0"/>
          </a:xfrm>
          <a:prstGeom prst="line">
            <a:avLst/>
          </a:prstGeom>
          <a:noFill/>
          <a:ln w="9525">
            <a:solidFill>
              <a:srgbClr val="1F314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731520"/>
            <a:ext cx="10911535" cy="10058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0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GPU order does not create usable compute.</a:t>
            </a:r>
            <a:endParaRPr lang="en-US" sz="2900" dirty="0"/>
          </a:p>
        </p:txBody>
      </p:sp>
      <p:sp>
        <p:nvSpPr>
          <p:cNvPr id="8" name="Text 5"/>
          <p:cNvSpPr/>
          <p:nvPr/>
        </p:nvSpPr>
        <p:spPr>
          <a:xfrm>
            <a:off x="640080" y="1920240"/>
            <a:ext cx="10911535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Delivering compute at scale is a chain of physical dependencies. Every link has to hold at a specific place.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40080" y="2697480"/>
            <a:ext cx="3454298" cy="1234440"/>
          </a:xfrm>
          <a:prstGeom prst="roundRect">
            <a:avLst>
              <a:gd name="adj" fmla="val 5926"/>
            </a:avLst>
          </a:prstGeom>
          <a:solidFill>
            <a:srgbClr val="122330"/>
          </a:solidFill>
          <a:ln w="9525">
            <a:solidFill>
              <a:srgbClr val="1F314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" y="2862072"/>
            <a:ext cx="45720" cy="905256"/>
          </a:xfrm>
          <a:prstGeom prst="rect">
            <a:avLst/>
          </a:prstGeom>
          <a:solidFill>
            <a:srgbClr val="7EBBFF"/>
          </a:solidFill>
          <a:ln w="12700">
            <a:solidFill>
              <a:srgbClr val="7EBB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41248" y="2834640"/>
            <a:ext cx="313425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CHIPS &amp; NETWORKING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41248" y="3136392"/>
            <a:ext cx="308853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 everyone talks about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4368698" y="2697480"/>
            <a:ext cx="3454298" cy="1234440"/>
          </a:xfrm>
          <a:prstGeom prst="roundRect">
            <a:avLst>
              <a:gd name="adj" fmla="val 5926"/>
            </a:avLst>
          </a:prstGeom>
          <a:solidFill>
            <a:srgbClr val="122330"/>
          </a:solidFill>
          <a:ln w="9525">
            <a:solidFill>
              <a:srgbClr val="1F314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368698" y="2862072"/>
            <a:ext cx="45720" cy="905256"/>
          </a:xfrm>
          <a:prstGeom prst="rect">
            <a:avLst/>
          </a:prstGeom>
          <a:solidFill>
            <a:srgbClr val="43DFC3"/>
          </a:solidFill>
          <a:ln w="12700">
            <a:solidFill>
              <a:srgbClr val="43DFC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569866" y="2834640"/>
            <a:ext cx="313425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DEPENDABLE ELECTRICITY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4569866" y="3136392"/>
            <a:ext cx="308853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full load, on a date, under contract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8097317" y="2697480"/>
            <a:ext cx="3454298" cy="1234440"/>
          </a:xfrm>
          <a:prstGeom prst="roundRect">
            <a:avLst>
              <a:gd name="adj" fmla="val 5926"/>
            </a:avLst>
          </a:prstGeom>
          <a:solidFill>
            <a:srgbClr val="122330"/>
          </a:solidFill>
          <a:ln w="9525">
            <a:solidFill>
              <a:srgbClr val="1F314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097317" y="2862072"/>
            <a:ext cx="45720" cy="905256"/>
          </a:xfrm>
          <a:prstGeom prst="rect">
            <a:avLst/>
          </a:prstGeom>
          <a:solidFill>
            <a:srgbClr val="43DFC3"/>
          </a:solidFill>
          <a:ln w="12700">
            <a:solidFill>
              <a:srgbClr val="43DFC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98485" y="2834640"/>
            <a:ext cx="313425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HEAT REMOVAL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8298485" y="3136392"/>
            <a:ext cx="308853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cooling design, water or dry systems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640080" y="4114800"/>
            <a:ext cx="3454298" cy="1234440"/>
          </a:xfrm>
          <a:prstGeom prst="roundRect">
            <a:avLst>
              <a:gd name="adj" fmla="val 5926"/>
            </a:avLst>
          </a:prstGeom>
          <a:solidFill>
            <a:srgbClr val="122330"/>
          </a:solidFill>
          <a:ln w="9525">
            <a:solidFill>
              <a:srgbClr val="1F314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40080" y="4279392"/>
            <a:ext cx="45720" cy="905256"/>
          </a:xfrm>
          <a:prstGeom prst="rect">
            <a:avLst/>
          </a:prstGeom>
          <a:solidFill>
            <a:srgbClr val="43DFC3"/>
          </a:solidFill>
          <a:ln w="12700">
            <a:solidFill>
              <a:srgbClr val="43DFC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41248" y="4251960"/>
            <a:ext cx="313425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&amp; PERMISSION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841248" y="4553712"/>
            <a:ext cx="308853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buildable area, zoning, rights</a:t>
            </a:r>
            <a:endParaRPr lang="en-US" sz="1350" dirty="0"/>
          </a:p>
        </p:txBody>
      </p:sp>
      <p:sp>
        <p:nvSpPr>
          <p:cNvPr id="25" name="Shape 22"/>
          <p:cNvSpPr/>
          <p:nvPr/>
        </p:nvSpPr>
        <p:spPr>
          <a:xfrm>
            <a:off x="4368698" y="4114800"/>
            <a:ext cx="3454298" cy="1234440"/>
          </a:xfrm>
          <a:prstGeom prst="roundRect">
            <a:avLst>
              <a:gd name="adj" fmla="val 5926"/>
            </a:avLst>
          </a:prstGeom>
          <a:solidFill>
            <a:srgbClr val="122330"/>
          </a:solidFill>
          <a:ln w="9525">
            <a:solidFill>
              <a:srgbClr val="1F314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368698" y="4279392"/>
            <a:ext cx="45720" cy="905256"/>
          </a:xfrm>
          <a:prstGeom prst="rect">
            <a:avLst/>
          </a:prstGeom>
          <a:solidFill>
            <a:srgbClr val="43DFC3"/>
          </a:solidFill>
          <a:ln w="12700">
            <a:solidFill>
              <a:srgbClr val="43DFC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69866" y="4251960"/>
            <a:ext cx="313425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CONNECTIVITY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4569866" y="4553712"/>
            <a:ext cx="308853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fibre routes, diversity, latency</a:t>
            </a:r>
            <a:endParaRPr lang="en-US" sz="1350" dirty="0"/>
          </a:p>
        </p:txBody>
      </p:sp>
      <p:sp>
        <p:nvSpPr>
          <p:cNvPr id="29" name="Shape 26"/>
          <p:cNvSpPr/>
          <p:nvPr/>
        </p:nvSpPr>
        <p:spPr>
          <a:xfrm>
            <a:off x="8097317" y="4114800"/>
            <a:ext cx="3454298" cy="1234440"/>
          </a:xfrm>
          <a:prstGeom prst="roundRect">
            <a:avLst>
              <a:gd name="adj" fmla="val 5926"/>
            </a:avLst>
          </a:prstGeom>
          <a:solidFill>
            <a:srgbClr val="122330"/>
          </a:solidFill>
          <a:ln w="9525">
            <a:solidFill>
              <a:srgbClr val="1F314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8097317" y="4279392"/>
            <a:ext cx="45720" cy="905256"/>
          </a:xfrm>
          <a:prstGeom prst="rect">
            <a:avLst/>
          </a:prstGeom>
          <a:solidFill>
            <a:srgbClr val="43DFC3"/>
          </a:solidFill>
          <a:ln w="12700">
            <a:solidFill>
              <a:srgbClr val="43DFC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298485" y="4251960"/>
            <a:ext cx="313425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 &amp; CAPITAL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8298485" y="4553712"/>
            <a:ext cx="308853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people, uptime, financing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91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3DF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NOW · FORECAST, NOT A MEASUREMENT</a:t>
            </a:r>
            <a:endParaRPr lang="en-US" sz="1100" dirty="0"/>
          </a:p>
        </p:txBody>
      </p:sp>
      <p:sp>
        <p:nvSpPr>
          <p:cNvPr id="3" name="Text 1">
            <a:hlinkClick r:id="rId1" tooltip=""/>
          </p:cNvPr>
          <p:cNvSpPr/>
          <p:nvPr/>
        </p:nvSpPr>
        <p:spPr>
          <a:xfrm>
            <a:off x="640080" y="635508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6F859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Source: IEA, Energy and AI updated outlook (2026)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10637215" y="63550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16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6291072"/>
            <a:ext cx="10911535" cy="0"/>
          </a:xfrm>
          <a:prstGeom prst="line">
            <a:avLst/>
          </a:prstGeom>
          <a:noFill/>
          <a:ln w="9525">
            <a:solidFill>
              <a:srgbClr val="1F314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731520"/>
            <a:ext cx="10911535" cy="10058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0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Data-centre electricity demand is projected to nearly double.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640080" y="201168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F0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485</a:t>
            </a:r>
            <a:pPr indent="0" marL="0">
              <a:buNone/>
            </a:pPr>
            <a:r>
              <a:rPr lang="en-US" sz="240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TWh  </a:t>
            </a:r>
            <a:pPr indent="0" marL="0">
              <a:buNone/>
            </a:pPr>
            <a:r>
              <a:rPr lang="en-US" sz="6000" dirty="0">
                <a:solidFill>
                  <a:srgbClr val="43DF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indent="0" marL="0">
              <a:buNone/>
            </a:pPr>
            <a:r>
              <a:rPr lang="en-US" sz="8800" b="1" dirty="0">
                <a:solidFill>
                  <a:srgbClr val="F0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950</a:t>
            </a:r>
            <a:pPr indent="0" marL="0">
              <a:buNone/>
            </a:pPr>
            <a:r>
              <a:rPr lang="en-US" sz="240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TWh</a:t>
            </a:r>
            <a:endParaRPr lang="en-US" sz="8800" dirty="0"/>
          </a:p>
        </p:txBody>
      </p:sp>
      <p:sp>
        <p:nvSpPr>
          <p:cNvPr id="9" name="Text 6"/>
          <p:cNvSpPr/>
          <p:nvPr/>
        </p:nvSpPr>
        <p:spPr>
          <a:xfrm>
            <a:off x="731520" y="36576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F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303520" y="3657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F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 · about 3% of global electricity demand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40080" y="4480560"/>
            <a:ext cx="10911535" cy="1097280"/>
          </a:xfrm>
          <a:prstGeom prst="roundRect">
            <a:avLst>
              <a:gd name="adj" fmla="val 6667"/>
            </a:avLst>
          </a:prstGeom>
          <a:solidFill>
            <a:srgbClr val="122330"/>
          </a:solidFill>
          <a:ln w="9525">
            <a:solidFill>
              <a:srgbClr val="1F314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0080" y="4645152"/>
            <a:ext cx="45720" cy="768096"/>
          </a:xfrm>
          <a:prstGeom prst="rect">
            <a:avLst/>
          </a:prstGeom>
          <a:solidFill>
            <a:srgbClr val="FFCC75"/>
          </a:solidFill>
          <a:ln w="12700">
            <a:solidFill>
              <a:srgbClr val="FFCC7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617720"/>
            <a:ext cx="105914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IT CAREFULLY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841248" y="4919472"/>
            <a:ext cx="1054577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a projection of consumption, not metered demand. The same outlook flags supply-chain bottlenecks and uncertain investment returns. Growth in demand is exactly why the siting question gets harder, not easier.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91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3DF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INDIA · DATED GOVERNMENT STATEMENT</a:t>
            </a:r>
            <a:endParaRPr lang="en-US" sz="1100" dirty="0"/>
          </a:p>
        </p:txBody>
      </p:sp>
      <p:sp>
        <p:nvSpPr>
          <p:cNvPr id="3" name="Text 1">
            <a:hlinkClick r:id="rId1" tooltip=""/>
          </p:cNvPr>
          <p:cNvSpPr/>
          <p:nvPr/>
        </p:nvSpPr>
        <p:spPr>
          <a:xfrm>
            <a:off x="640080" y="635508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6F859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Source: PIB, IndiaAI compute empanelment (March 2026)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10637215" y="63550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16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6291072"/>
            <a:ext cx="10911535" cy="0"/>
          </a:xfrm>
          <a:prstGeom prst="line">
            <a:avLst/>
          </a:prstGeom>
          <a:noFill/>
          <a:ln w="9525">
            <a:solidFill>
              <a:srgbClr val="1F314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731520"/>
            <a:ext cx="10911535" cy="10058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0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 is expanding compute access — and will need places to put it.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640080" y="2011680"/>
            <a:ext cx="5303520" cy="1737360"/>
          </a:xfrm>
          <a:prstGeom prst="roundRect">
            <a:avLst>
              <a:gd name="adj" fmla="val 4211"/>
            </a:avLst>
          </a:prstGeom>
          <a:solidFill>
            <a:srgbClr val="122330"/>
          </a:solidFill>
          <a:ln w="9525">
            <a:solidFill>
              <a:srgbClr val="1F314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2176272"/>
            <a:ext cx="45720" cy="1408176"/>
          </a:xfrm>
          <a:prstGeom prst="rect">
            <a:avLst/>
          </a:prstGeom>
          <a:solidFill>
            <a:srgbClr val="7EBBFF"/>
          </a:solidFill>
          <a:ln w="12700">
            <a:solidFill>
              <a:srgbClr val="7EBB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41248" y="2148840"/>
            <a:ext cx="4983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GPUS EMPANELED · MARCH 2026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2395728"/>
            <a:ext cx="4983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0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38,000+</a:t>
            </a:r>
            <a:pPr indent="0" marL="0">
              <a:buNone/>
            </a:pPr>
            <a:r>
              <a:rPr lang="en-US" sz="120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through 14 providers</a:t>
            </a:r>
            <a:endParaRPr lang="en-US" sz="4000" dirty="0"/>
          </a:p>
        </p:txBody>
      </p:sp>
      <p:sp>
        <p:nvSpPr>
          <p:cNvPr id="12" name="Text 9"/>
          <p:cNvSpPr/>
          <p:nvPr/>
        </p:nvSpPr>
        <p:spPr>
          <a:xfrm>
            <a:off x="841248" y="3035808"/>
            <a:ext cx="49377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Another 20,000 were being added under a process then underway.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217920" y="2011680"/>
            <a:ext cx="5333695" cy="1737360"/>
          </a:xfrm>
          <a:prstGeom prst="roundRect">
            <a:avLst>
              <a:gd name="adj" fmla="val 4211"/>
            </a:avLst>
          </a:prstGeom>
          <a:solidFill>
            <a:srgbClr val="122330"/>
          </a:solidFill>
          <a:ln w="9525">
            <a:solidFill>
              <a:srgbClr val="1F314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217920" y="2176272"/>
            <a:ext cx="45720" cy="1408176"/>
          </a:xfrm>
          <a:prstGeom prst="rect">
            <a:avLst/>
          </a:prstGeom>
          <a:solidFill>
            <a:srgbClr val="FFCC75"/>
          </a:solidFill>
          <a:ln w="12700">
            <a:solidFill>
              <a:srgbClr val="FFCC7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19088" y="2148840"/>
            <a:ext cx="50136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THAT DOES NOT MEAN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6419088" y="2450592"/>
            <a:ext cx="4967935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Empaneled is not continuously available. The hardware is heterogeneous. It is a dated statement about a procurement pool, not a live capacity meter.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640080" y="3977640"/>
            <a:ext cx="1091153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opportunity is access plus execution: helping capable teams turn ambitions into sites whose dependencies are understood. Local-language applications, research and industry can benefit from domestic access. Construction alone guarantees none of it.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91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3DF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DEFENSIBLE ECONOMIC STORY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35508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 Atlas · Bhopal Claude Code Build Day · 20 September 2026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10637215" y="63550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16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6291072"/>
            <a:ext cx="10911535" cy="0"/>
          </a:xfrm>
          <a:prstGeom prst="line">
            <a:avLst/>
          </a:prstGeom>
          <a:noFill/>
          <a:ln w="9525">
            <a:solidFill>
              <a:srgbClr val="1F314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731520"/>
            <a:ext cx="10911535" cy="10058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0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 is an enabling input, not a scoreboard.</a:t>
            </a:r>
            <a:endParaRPr lang="en-US" sz="2900" dirty="0"/>
          </a:p>
        </p:txBody>
      </p:sp>
      <p:sp>
        <p:nvSpPr>
          <p:cNvPr id="8" name="Shape 5"/>
          <p:cNvSpPr/>
          <p:nvPr/>
        </p:nvSpPr>
        <p:spPr>
          <a:xfrm>
            <a:off x="640080" y="2103120"/>
            <a:ext cx="2384984" cy="1371600"/>
          </a:xfrm>
          <a:prstGeom prst="roundRect">
            <a:avLst>
              <a:gd name="adj" fmla="val 6667"/>
            </a:avLst>
          </a:prstGeom>
          <a:solidFill>
            <a:srgbClr val="122330"/>
          </a:solidFill>
          <a:ln w="12700">
            <a:solidFill>
              <a:srgbClr val="1F314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2103120"/>
            <a:ext cx="211066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0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Accessible compute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098216" y="2103120"/>
            <a:ext cx="320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43DF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3000" dirty="0"/>
          </a:p>
        </p:txBody>
      </p:sp>
      <p:sp>
        <p:nvSpPr>
          <p:cNvPr id="11" name="Shape 8"/>
          <p:cNvSpPr/>
          <p:nvPr/>
        </p:nvSpPr>
        <p:spPr>
          <a:xfrm>
            <a:off x="3482264" y="2103120"/>
            <a:ext cx="2384984" cy="1371600"/>
          </a:xfrm>
          <a:prstGeom prst="roundRect">
            <a:avLst>
              <a:gd name="adj" fmla="val 6667"/>
            </a:avLst>
          </a:prstGeom>
          <a:solidFill>
            <a:srgbClr val="122330"/>
          </a:solidFill>
          <a:ln w="12700">
            <a:solidFill>
              <a:srgbClr val="1F314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619424" y="2103120"/>
            <a:ext cx="211066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0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Experimentation &amp; locally relevant services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5940400" y="2103120"/>
            <a:ext cx="320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43DF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3000" dirty="0"/>
          </a:p>
        </p:txBody>
      </p:sp>
      <p:sp>
        <p:nvSpPr>
          <p:cNvPr id="14" name="Shape 11"/>
          <p:cNvSpPr/>
          <p:nvPr/>
        </p:nvSpPr>
        <p:spPr>
          <a:xfrm>
            <a:off x="6324448" y="2103120"/>
            <a:ext cx="2384984" cy="1371600"/>
          </a:xfrm>
          <a:prstGeom prst="roundRect">
            <a:avLst>
              <a:gd name="adj" fmla="val 6667"/>
            </a:avLst>
          </a:prstGeom>
          <a:solidFill>
            <a:srgbClr val="122330"/>
          </a:solidFill>
          <a:ln w="12700">
            <a:solidFill>
              <a:srgbClr val="1F314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61608" y="2103120"/>
            <a:ext cx="211066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0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adoption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782583" y="2103120"/>
            <a:ext cx="320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43DF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3000" dirty="0"/>
          </a:p>
        </p:txBody>
      </p:sp>
      <p:sp>
        <p:nvSpPr>
          <p:cNvPr id="17" name="Shape 14"/>
          <p:cNvSpPr/>
          <p:nvPr/>
        </p:nvSpPr>
        <p:spPr>
          <a:xfrm>
            <a:off x="9166631" y="2103120"/>
            <a:ext cx="2384984" cy="1371600"/>
          </a:xfrm>
          <a:prstGeom prst="roundRect">
            <a:avLst>
              <a:gd name="adj" fmla="val 6667"/>
            </a:avLst>
          </a:prstGeom>
          <a:solidFill>
            <a:srgbClr val="122330"/>
          </a:solidFill>
          <a:ln w="12700">
            <a:solidFill>
              <a:srgbClr val="43DFC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303791" y="2103120"/>
            <a:ext cx="211066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0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— only with demand, skills, software and viable economics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640080" y="3840480"/>
            <a:ext cx="10911535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F0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do not claim: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"countries with the most compute are the most profitable." No league table exists that normalises accelerator capability, utilisation, cloud imports and exports, cost and adoption.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F0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do claim: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hosting capacity, owning chips, operating a cloud profitably and capturing national value are four different things. Our product touches the first one: can this site host it at all?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91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3DF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INSPIRATION · CRUSOE</a:t>
            </a:r>
            <a:endParaRPr lang="en-US" sz="1100" dirty="0"/>
          </a:p>
        </p:txBody>
      </p:sp>
      <p:sp>
        <p:nvSpPr>
          <p:cNvPr id="3" name="Text 1">
            <a:hlinkClick r:id="rId1" tooltip=""/>
          </p:cNvPr>
          <p:cNvSpPr/>
          <p:nvPr/>
        </p:nvSpPr>
        <p:spPr>
          <a:xfrm>
            <a:off x="640080" y="635508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6F859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Source: Crusoe Series F announcement, 17 September 2026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10637215" y="63550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16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6291072"/>
            <a:ext cx="10911535" cy="0"/>
          </a:xfrm>
          <a:prstGeom prst="line">
            <a:avLst/>
          </a:prstGeom>
          <a:noFill/>
          <a:ln w="9525">
            <a:solidFill>
              <a:srgbClr val="1F314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731520"/>
            <a:ext cx="10911535" cy="10058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0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energy, then ask what compute it can carry.</a:t>
            </a:r>
            <a:endParaRPr lang="en-US" sz="2900" dirty="0"/>
          </a:p>
        </p:txBody>
      </p:sp>
      <p:sp>
        <p:nvSpPr>
          <p:cNvPr id="8" name="Text 5"/>
          <p:cNvSpPr/>
          <p:nvPr/>
        </p:nvSpPr>
        <p:spPr>
          <a:xfrm>
            <a:off x="640080" y="1874520"/>
            <a:ext cx="67665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F0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Energy-first.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Crusoe's early strategy brought computing to energy sources, including stranded gas, instead of assuming every workload starts at a conventional data-centre location.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F0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facility sizes.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 campuses and Spark, a prefabricated modular AI data centre integrating power, cooling, racks, monitoring and fire suppression (introduced 26 June 2025).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F0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Investor conviction.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September 2026: initial closing of an anticipated $3.9 billion Series F at a $30.9 billion post-money valuation.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772400" y="1874520"/>
            <a:ext cx="3779215" cy="1920240"/>
          </a:xfrm>
          <a:prstGeom prst="roundRect">
            <a:avLst>
              <a:gd name="adj" fmla="val 4762"/>
            </a:avLst>
          </a:prstGeom>
          <a:solidFill>
            <a:srgbClr val="122330"/>
          </a:solidFill>
          <a:ln w="9525">
            <a:solidFill>
              <a:srgbClr val="1F314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001000" y="1965960"/>
            <a:ext cx="3322015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0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“controlling the infrastructure from electrons to tokens”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10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Chase Lochmiller, Crusoe funding release, 17 Sep 2026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7772400" y="3977640"/>
            <a:ext cx="3779215" cy="1417320"/>
          </a:xfrm>
          <a:prstGeom prst="roundRect">
            <a:avLst>
              <a:gd name="adj" fmla="val 5161"/>
            </a:avLst>
          </a:prstGeom>
          <a:solidFill>
            <a:srgbClr val="122330"/>
          </a:solidFill>
          <a:ln w="9525">
            <a:solidFill>
              <a:srgbClr val="1F314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772400" y="4142232"/>
            <a:ext cx="45720" cy="1088136"/>
          </a:xfrm>
          <a:prstGeom prst="rect">
            <a:avLst/>
          </a:prstGeom>
          <a:solidFill>
            <a:srgbClr val="FFCC75"/>
          </a:solidFill>
          <a:ln w="12700">
            <a:solidFill>
              <a:srgbClr val="FFCC7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973568" y="4114800"/>
            <a:ext cx="345917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KEPT HONEST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7973568" y="4416552"/>
            <a:ext cx="341345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Funding and valuation signal investor commitment, not audited profit. Spark's delivery speed is a vendor claim. We are a software screening product with no affiliation to Crusoe.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91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3DF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BORROW INTELLECTUALLY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35508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 Atlas · Bhopal Claude Code Build Day · 20 September 2026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10637215" y="63550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16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6291072"/>
            <a:ext cx="10911535" cy="0"/>
          </a:xfrm>
          <a:prstGeom prst="line">
            <a:avLst/>
          </a:prstGeom>
          <a:noFill/>
          <a:ln w="9525">
            <a:solidFill>
              <a:srgbClr val="1F314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731520"/>
            <a:ext cx="10911535" cy="10058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0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ideas we took from the energy-first playbook.</a:t>
            </a:r>
            <a:endParaRPr lang="en-US" sz="2900" dirty="0"/>
          </a:p>
        </p:txBody>
      </p:sp>
      <p:sp>
        <p:nvSpPr>
          <p:cNvPr id="8" name="Shape 5"/>
          <p:cNvSpPr/>
          <p:nvPr/>
        </p:nvSpPr>
        <p:spPr>
          <a:xfrm>
            <a:off x="640080" y="2011680"/>
            <a:ext cx="1999427" cy="2377440"/>
          </a:xfrm>
          <a:prstGeom prst="roundRect">
            <a:avLst>
              <a:gd name="adj" fmla="val 3659"/>
            </a:avLst>
          </a:prstGeom>
          <a:solidFill>
            <a:srgbClr val="122330"/>
          </a:solidFill>
          <a:ln w="9525">
            <a:solidFill>
              <a:srgbClr val="1F314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2176272"/>
            <a:ext cx="45720" cy="2048256"/>
          </a:xfrm>
          <a:prstGeom prst="rect">
            <a:avLst/>
          </a:prstGeom>
          <a:solidFill>
            <a:srgbClr val="43DFC3"/>
          </a:solidFill>
          <a:ln w="12700">
            <a:solidFill>
              <a:srgbClr val="43DFC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41248" y="2148840"/>
            <a:ext cx="167938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2450592"/>
            <a:ext cx="163366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Workload and energy together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evaluate the site without the load it must carry.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2868107" y="2011680"/>
            <a:ext cx="1999427" cy="2377440"/>
          </a:xfrm>
          <a:prstGeom prst="roundRect">
            <a:avLst>
              <a:gd name="adj" fmla="val 3659"/>
            </a:avLst>
          </a:prstGeom>
          <a:solidFill>
            <a:srgbClr val="122330"/>
          </a:solidFill>
          <a:ln w="9525">
            <a:solidFill>
              <a:srgbClr val="1F314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868107" y="2176272"/>
            <a:ext cx="45720" cy="2048256"/>
          </a:xfrm>
          <a:prstGeom prst="rect">
            <a:avLst/>
          </a:prstGeom>
          <a:solidFill>
            <a:srgbClr val="43DFC3"/>
          </a:solidFill>
          <a:ln w="12700">
            <a:solidFill>
              <a:srgbClr val="43DFC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069275" y="2148840"/>
            <a:ext cx="167938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3069275" y="2450592"/>
            <a:ext cx="163366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Campus versus modular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centralised and distributed deployment where it makes sense.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096134" y="2011680"/>
            <a:ext cx="1999427" cy="2377440"/>
          </a:xfrm>
          <a:prstGeom prst="roundRect">
            <a:avLst>
              <a:gd name="adj" fmla="val 3659"/>
            </a:avLst>
          </a:prstGeom>
          <a:solidFill>
            <a:srgbClr val="122330"/>
          </a:solidFill>
          <a:ln w="9525">
            <a:solidFill>
              <a:srgbClr val="1F314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096134" y="2176272"/>
            <a:ext cx="45720" cy="2048256"/>
          </a:xfrm>
          <a:prstGeom prst="rect">
            <a:avLst/>
          </a:prstGeom>
          <a:solidFill>
            <a:srgbClr val="43DFC3"/>
          </a:solidFill>
          <a:ln w="12700">
            <a:solidFill>
              <a:srgbClr val="43DFC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297302" y="2148840"/>
            <a:ext cx="167938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297302" y="2450592"/>
            <a:ext cx="163366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to usable capacity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Energisation date matters as much as land price.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7324161" y="2011680"/>
            <a:ext cx="1999427" cy="2377440"/>
          </a:xfrm>
          <a:prstGeom prst="roundRect">
            <a:avLst>
              <a:gd name="adj" fmla="val 3659"/>
            </a:avLst>
          </a:prstGeom>
          <a:solidFill>
            <a:srgbClr val="122330"/>
          </a:solidFill>
          <a:ln w="9525">
            <a:solidFill>
              <a:srgbClr val="1F314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324161" y="2176272"/>
            <a:ext cx="45720" cy="2048256"/>
          </a:xfrm>
          <a:prstGeom prst="rect">
            <a:avLst/>
          </a:prstGeom>
          <a:solidFill>
            <a:srgbClr val="43DFC3"/>
          </a:solidFill>
          <a:ln w="12700">
            <a:solidFill>
              <a:srgbClr val="43D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525329" y="2148840"/>
            <a:ext cx="167938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525329" y="2450592"/>
            <a:ext cx="163366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Potential ≠ deliverable power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renewable potential is not hourly reliability.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9552188" y="2011680"/>
            <a:ext cx="1999427" cy="2377440"/>
          </a:xfrm>
          <a:prstGeom prst="roundRect">
            <a:avLst>
              <a:gd name="adj" fmla="val 3659"/>
            </a:avLst>
          </a:prstGeom>
          <a:solidFill>
            <a:srgbClr val="122330"/>
          </a:solidFill>
          <a:ln w="9525">
            <a:solidFill>
              <a:srgbClr val="1F314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552188" y="2176272"/>
            <a:ext cx="45720" cy="2048256"/>
          </a:xfrm>
          <a:prstGeom prst="rect">
            <a:avLst/>
          </a:prstGeom>
          <a:solidFill>
            <a:srgbClr val="43DFC3"/>
          </a:solidFill>
          <a:ln w="12700">
            <a:solidFill>
              <a:srgbClr val="43D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753356" y="2148840"/>
            <a:ext cx="167938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9753356" y="2450592"/>
            <a:ext cx="163366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 compute toward energy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if latency, network and operations still hold.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640080" y="4663440"/>
            <a:ext cx="1091153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F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Nuclear and flare-gas supply stay research scenarios. Proximity to a generator is never a supply contract. Flexible batch training and latency-sensitive inference do not share uptime requirements.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91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3DF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FACTS OF A SITE · ILLUSTRATIVE ARITHMETIC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35508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 Atlas · Bhopal Claude Code Build Day · 20 September 2026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10637215" y="63550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16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6291072"/>
            <a:ext cx="10911535" cy="0"/>
          </a:xfrm>
          <a:prstGeom prst="line">
            <a:avLst/>
          </a:prstGeom>
          <a:noFill/>
          <a:ln w="9525">
            <a:solidFill>
              <a:srgbClr val="1F314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731520"/>
            <a:ext cx="10911535" cy="10058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0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20 MW AI campus, in numbers a utility will ask about.</a:t>
            </a:r>
            <a:endParaRPr lang="en-US" sz="2900" dirty="0"/>
          </a:p>
        </p:txBody>
      </p:sp>
      <p:sp>
        <p:nvSpPr>
          <p:cNvPr id="8" name="Shape 5"/>
          <p:cNvSpPr/>
          <p:nvPr/>
        </p:nvSpPr>
        <p:spPr>
          <a:xfrm>
            <a:off x="640080" y="2011680"/>
            <a:ext cx="2522144" cy="1828800"/>
          </a:xfrm>
          <a:prstGeom prst="roundRect">
            <a:avLst>
              <a:gd name="adj" fmla="val 4000"/>
            </a:avLst>
          </a:prstGeom>
          <a:solidFill>
            <a:srgbClr val="122330"/>
          </a:solidFill>
          <a:ln w="9525">
            <a:solidFill>
              <a:srgbClr val="1F314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2176272"/>
            <a:ext cx="45720" cy="1499616"/>
          </a:xfrm>
          <a:prstGeom prst="rect">
            <a:avLst/>
          </a:prstGeom>
          <a:solidFill>
            <a:srgbClr val="43DFC3"/>
          </a:solidFill>
          <a:ln w="12700">
            <a:solidFill>
              <a:srgbClr val="43DFC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41248" y="2148840"/>
            <a:ext cx="22021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 CONNECTION AT FULL LOAD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2395728"/>
            <a:ext cx="22021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0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26.0</a:t>
            </a:r>
            <a:pPr indent="0" marL="0">
              <a:buNone/>
            </a:pPr>
            <a:r>
              <a:rPr lang="en-US" sz="120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MW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41248" y="3035808"/>
            <a:ext cx="215638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MW × PUE. Utilisation excluded on purpose.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3436544" y="2011680"/>
            <a:ext cx="2522144" cy="1828800"/>
          </a:xfrm>
          <a:prstGeom prst="roundRect">
            <a:avLst>
              <a:gd name="adj" fmla="val 4000"/>
            </a:avLst>
          </a:prstGeom>
          <a:solidFill>
            <a:srgbClr val="122330"/>
          </a:solidFill>
          <a:ln w="9525">
            <a:solidFill>
              <a:srgbClr val="1F314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36544" y="2176272"/>
            <a:ext cx="45720" cy="1499616"/>
          </a:xfrm>
          <a:prstGeom prst="rect">
            <a:avLst/>
          </a:prstGeom>
          <a:solidFill>
            <a:srgbClr val="7EBBFF"/>
          </a:solidFill>
          <a:ln w="12700">
            <a:solidFill>
              <a:srgbClr val="7EBB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637712" y="2148840"/>
            <a:ext cx="22021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ENERGY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3637712" y="2395728"/>
            <a:ext cx="22021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0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1,82,208</a:t>
            </a:r>
            <a:pPr indent="0" marL="0">
              <a:buNone/>
            </a:pPr>
            <a:r>
              <a:rPr lang="en-US" sz="120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MWh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3637712" y="3035808"/>
            <a:ext cx="215638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× 0.8 × 1.3 × 8,760 hours.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233008" y="2011680"/>
            <a:ext cx="2522144" cy="1828800"/>
          </a:xfrm>
          <a:prstGeom prst="roundRect">
            <a:avLst>
              <a:gd name="adj" fmla="val 4000"/>
            </a:avLst>
          </a:prstGeom>
          <a:solidFill>
            <a:srgbClr val="122330"/>
          </a:solidFill>
          <a:ln w="9525">
            <a:solidFill>
              <a:srgbClr val="1F314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233008" y="2176272"/>
            <a:ext cx="45720" cy="1499616"/>
          </a:xfrm>
          <a:prstGeom prst="rect">
            <a:avLst/>
          </a:prstGeom>
          <a:solidFill>
            <a:srgbClr val="7EBBFF"/>
          </a:solidFill>
          <a:ln w="12700">
            <a:solidFill>
              <a:srgbClr val="7EBB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34176" y="2148840"/>
            <a:ext cx="22021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BILL PER YEAR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6434176" y="2395728"/>
            <a:ext cx="22021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0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₹127.5</a:t>
            </a:r>
            <a:pPr indent="0" marL="0">
              <a:buNone/>
            </a:pPr>
            <a:r>
              <a:rPr lang="en-US" sz="120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crore</a:t>
            </a:r>
            <a:endParaRPr lang="en-US" sz="2800" dirty="0"/>
          </a:p>
        </p:txBody>
      </p:sp>
      <p:sp>
        <p:nvSpPr>
          <p:cNvPr id="22" name="Text 19"/>
          <p:cNvSpPr/>
          <p:nvPr/>
        </p:nvSpPr>
        <p:spPr>
          <a:xfrm>
            <a:off x="6434176" y="3035808"/>
            <a:ext cx="215638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an assumed ₹7 per kWh.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9029471" y="2011680"/>
            <a:ext cx="2522144" cy="1828800"/>
          </a:xfrm>
          <a:prstGeom prst="roundRect">
            <a:avLst>
              <a:gd name="adj" fmla="val 4000"/>
            </a:avLst>
          </a:prstGeom>
          <a:solidFill>
            <a:srgbClr val="122330"/>
          </a:solidFill>
          <a:ln w="9525">
            <a:solidFill>
              <a:srgbClr val="1F314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9029471" y="2176272"/>
            <a:ext cx="45720" cy="1499616"/>
          </a:xfrm>
          <a:prstGeom prst="rect">
            <a:avLst/>
          </a:prstGeom>
          <a:solidFill>
            <a:srgbClr val="FFCC75"/>
          </a:solidFill>
          <a:ln w="12700">
            <a:solidFill>
              <a:srgbClr val="FFCC75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230639" y="2148840"/>
            <a:ext cx="22021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WITHDRAWAL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9230639" y="2395728"/>
            <a:ext cx="22021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0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1,92,000</a:t>
            </a:r>
            <a:pPr indent="0" marL="0">
              <a:buNone/>
            </a:pPr>
            <a:r>
              <a:rPr lang="en-US" sz="120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L/day</a:t>
            </a:r>
            <a:endParaRPr lang="en-US" sz="2800" dirty="0"/>
          </a:p>
        </p:txBody>
      </p:sp>
      <p:sp>
        <p:nvSpPr>
          <p:cNvPr id="27" name="Text 24"/>
          <p:cNvSpPr/>
          <p:nvPr/>
        </p:nvSpPr>
        <p:spPr>
          <a:xfrm>
            <a:off x="9230639" y="3035808"/>
            <a:ext cx="215638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WUE 0.5 litres per IT-kWh.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640080" y="4114800"/>
            <a:ext cx="10911535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F0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one of these is a claim on someone else.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DISCOM must connect 26 MW by a date. A municipality or aquifer must give up 1.9 lakh litres a day. The land must be net buildable after setbacks. A carrier must run fibre.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F0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MW is power; MWh is energy.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20 MW load running 24 hours uses 480 MWh. Mixing them up is the most common error in siting conversations.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91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3DF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SITING DECISIONS GO WRONG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35508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 Atlas · Bhopal Claude Code Build Day · 20 September 2026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10637215" y="63550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16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6291072"/>
            <a:ext cx="10911535" cy="0"/>
          </a:xfrm>
          <a:prstGeom prst="line">
            <a:avLst/>
          </a:prstGeom>
          <a:noFill/>
          <a:ln w="9525">
            <a:solidFill>
              <a:srgbClr val="1F314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731520"/>
            <a:ext cx="10911535" cy="731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0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gets mistaken for commitment.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11535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705295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43DFC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the map or the brochure says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43DFC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actually establishes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8BAC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high-voltage line runs past the parcel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3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0F5F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Route context only. Not available MW, not a connection date, not redundancy.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31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8BAC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 is a lake or river nearby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3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0F5F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Nothing about water rights, treatment, seasonality or cooling design.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31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8BAC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Monthly mean temperature is 35 °C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3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0F5F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Seasonal context. Not a design-day wet-bulb; cannot size a cooling plant.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31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8BAC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suitability score of 84/100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3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0F5F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number that hides which requirement failed and which was never checked.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31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8BAC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newer document says 30 MW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3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0F5F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Newer is not authoritative. Issuer, scope, conditions and wording decide.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31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8BAC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broker brief promises capacity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3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0F5F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Indicative. Not a utility feasibility letter, and that is not a connection agreement.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31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91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3DF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EVIDENCE PROBLEM IN INDIA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35508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 Atlas · Bhopal Claude Code Build Day · 20 September 2026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10637215" y="63550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16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6291072"/>
            <a:ext cx="10911535" cy="0"/>
          </a:xfrm>
          <a:prstGeom prst="line">
            <a:avLst/>
          </a:prstGeom>
          <a:noFill/>
          <a:ln w="9525">
            <a:solidFill>
              <a:srgbClr val="1F314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731520"/>
            <a:ext cx="10911535" cy="10058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0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facts that decide a site are fragmented, and the decisive ones are private.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640080" y="1920240"/>
            <a:ext cx="10911535" cy="1005840"/>
          </a:xfrm>
          <a:prstGeom prst="roundRect">
            <a:avLst>
              <a:gd name="adj" fmla="val 7273"/>
            </a:avLst>
          </a:prstGeom>
          <a:solidFill>
            <a:srgbClr val="122330"/>
          </a:solidFill>
          <a:ln w="9525">
            <a:solidFill>
              <a:srgbClr val="1F314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2084832"/>
            <a:ext cx="45720" cy="676656"/>
          </a:xfrm>
          <a:prstGeom prst="rect">
            <a:avLst/>
          </a:prstGeom>
          <a:solidFill>
            <a:srgbClr val="43DFC3"/>
          </a:solidFill>
          <a:ln w="12700">
            <a:solidFill>
              <a:srgbClr val="43DFC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41248" y="2057400"/>
            <a:ext cx="105914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AND RETRIEVABLE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2359152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Climate climatology (NASA POWER), carrier facility inventory (PeeringDB), state boundaries (geoBoundaries).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40080" y="3063240"/>
            <a:ext cx="10911535" cy="1005840"/>
          </a:xfrm>
          <a:prstGeom prst="roundRect">
            <a:avLst>
              <a:gd name="adj" fmla="val 7273"/>
            </a:avLst>
          </a:prstGeom>
          <a:solidFill>
            <a:srgbClr val="122330"/>
          </a:solidFill>
          <a:ln w="9525">
            <a:solidFill>
              <a:srgbClr val="1F314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40080" y="3227832"/>
            <a:ext cx="45720" cy="676656"/>
          </a:xfrm>
          <a:prstGeom prst="rect">
            <a:avLst/>
          </a:prstGeom>
          <a:solidFill>
            <a:srgbClr val="FFCC75"/>
          </a:solidFill>
          <a:ln w="12700">
            <a:solidFill>
              <a:srgbClr val="FFCC7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3200400"/>
            <a:ext cx="105914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BUT NOT USABLE YET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841248" y="3502152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CEA power maps (access failed), NRSC Bhuvan flood hazard (no parcel extract), WRI Aqueduct water risk (basin scale).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40080" y="4206240"/>
            <a:ext cx="10911535" cy="1005840"/>
          </a:xfrm>
          <a:prstGeom prst="roundRect">
            <a:avLst>
              <a:gd name="adj" fmla="val 7273"/>
            </a:avLst>
          </a:prstGeom>
          <a:solidFill>
            <a:srgbClr val="122330"/>
          </a:solidFill>
          <a:ln w="9525">
            <a:solidFill>
              <a:srgbClr val="1F314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40080" y="4370832"/>
            <a:ext cx="45720" cy="676656"/>
          </a:xfrm>
          <a:prstGeom prst="rect">
            <a:avLst/>
          </a:prstGeom>
          <a:solidFill>
            <a:srgbClr val="FF8E91"/>
          </a:solidFill>
          <a:ln w="12700">
            <a:solidFill>
              <a:srgbClr val="FF8E9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41248" y="4343400"/>
            <a:ext cx="105914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PRIVATE, AND DECISIVE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841248" y="4645152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Utility feasibility letters, sanctioned-load letters, connection agreements, land title, zoning, water allocations, broker briefs.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40080" y="5440680"/>
            <a:ext cx="10911535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0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 private documents disagree with each other. A broker's 30 MW and a utility's conditional 12 MW can describe the same parcel in the same month. Today that contradiction is resolved in someone's head, or not at all.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91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3DF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WHOSE DECISION THIS 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35508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 Atlas · Bhopal Claude Code Build Day · 20 September 2026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10637215" y="63550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16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6291072"/>
            <a:ext cx="10911535" cy="0"/>
          </a:xfrm>
          <a:prstGeom prst="line">
            <a:avLst/>
          </a:prstGeom>
          <a:noFill/>
          <a:ln w="9525">
            <a:solidFill>
              <a:srgbClr val="1F314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731520"/>
            <a:ext cx="1091153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0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"Which of these sites deserves the next round of diligence, and what could invalidate it?"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640080" y="2148840"/>
            <a:ext cx="5394960" cy="3108960"/>
          </a:xfrm>
          <a:prstGeom prst="roundRect">
            <a:avLst>
              <a:gd name="adj" fmla="val 2353"/>
            </a:avLst>
          </a:prstGeom>
          <a:solidFill>
            <a:srgbClr val="122330"/>
          </a:solidFill>
          <a:ln w="9525">
            <a:solidFill>
              <a:srgbClr val="1F314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2313432"/>
            <a:ext cx="45720" cy="2779776"/>
          </a:xfrm>
          <a:prstGeom prst="rect">
            <a:avLst/>
          </a:prstGeom>
          <a:solidFill>
            <a:srgbClr val="43DFC3"/>
          </a:solidFill>
          <a:ln w="12700">
            <a:solidFill>
              <a:srgbClr val="43DFC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41248" y="2286000"/>
            <a:ext cx="5074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CUSTOMER HYPOTHESIS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2587752"/>
            <a:ext cx="50292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Boutique data-centre engineering and site-selection advisory firms.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analyst uses the workspace on every shortlist; a practice head buys it. Their project documents are the private evidence public maps cannot supply.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Entry point: a paid pilot on a real three-to-six-site shortlist. A hypothesis, not a validated sale.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309360" y="2148840"/>
            <a:ext cx="5242255" cy="3108960"/>
          </a:xfrm>
          <a:prstGeom prst="roundRect">
            <a:avLst>
              <a:gd name="adj" fmla="val 2353"/>
            </a:avLst>
          </a:prstGeom>
          <a:solidFill>
            <a:srgbClr val="122330"/>
          </a:solidFill>
          <a:ln w="9525">
            <a:solidFill>
              <a:srgbClr val="1F314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09360" y="2313432"/>
            <a:ext cx="45720" cy="2779776"/>
          </a:xfrm>
          <a:prstGeom prst="rect">
            <a:avLst/>
          </a:prstGeom>
          <a:solidFill>
            <a:srgbClr val="7EBBFF"/>
          </a:solidFill>
          <a:ln w="12700">
            <a:solidFill>
              <a:srgbClr val="7EBB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510528" y="2286000"/>
            <a:ext cx="492221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USERS AND WHAT THEY LOOK AT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6510528" y="2587752"/>
            <a:ext cx="4876495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Data-centre expansion teams: repeatable screening.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Investor technical-diligence teams: unresolved risks.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Industrial-park developers: what a parcel can host.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investment-promotion teams: which infrastructure gaps recur.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the direct buyer: individual AI developers. They feel the constraint but do not acquire land or utility connections.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91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3DF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JOBS TO BE DONE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35508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 Atlas · Bhopal Claude Code Build Day · 20 September 2026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10637215" y="63550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16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6291072"/>
            <a:ext cx="10911535" cy="0"/>
          </a:xfrm>
          <a:prstGeom prst="line">
            <a:avLst/>
          </a:prstGeom>
          <a:noFill/>
          <a:ln w="9525">
            <a:solidFill>
              <a:srgbClr val="1F314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731520"/>
            <a:ext cx="10911535" cy="10058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0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moments where the analyst needs a better instrument.</a:t>
            </a:r>
            <a:endParaRPr lang="en-US" sz="2900" dirty="0"/>
          </a:p>
        </p:txBody>
      </p:sp>
      <p:sp>
        <p:nvSpPr>
          <p:cNvPr id="8" name="Text 5"/>
          <p:cNvSpPr/>
          <p:nvPr/>
        </p:nvSpPr>
        <p:spPr>
          <a:xfrm>
            <a:off x="640080" y="20116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3DF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371600" y="2011680"/>
            <a:ext cx="101800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Several sites look attractive</a:t>
            </a:r>
            <a:endParaRPr lang="en-US" sz="1600" dirty="0"/>
          </a:p>
          <a:p>
            <a:pPr indent="0" marL="0">
              <a:buNone/>
            </a:pPr>
            <a:r>
              <a:rPr lang="en-US" sz="135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Separate what is supported by evidence from what is only claimed.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40080" y="2724912"/>
            <a:ext cx="10911535" cy="0"/>
          </a:xfrm>
          <a:prstGeom prst="line">
            <a:avLst/>
          </a:prstGeom>
          <a:noFill/>
          <a:ln w="6350">
            <a:solidFill>
              <a:srgbClr val="1F314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27432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3DF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1371600" y="2743200"/>
            <a:ext cx="101800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Requirements change</a:t>
            </a:r>
            <a:endParaRPr lang="en-US" sz="1600" dirty="0"/>
          </a:p>
          <a:p>
            <a:pPr indent="0" marL="0">
              <a:buNone/>
            </a:pPr>
            <a:r>
              <a:rPr lang="en-US" sz="135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which sites just became infeasible, and why.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640080" y="3456432"/>
            <a:ext cx="10911535" cy="0"/>
          </a:xfrm>
          <a:prstGeom prst="line">
            <a:avLst/>
          </a:prstGeom>
          <a:noFill/>
          <a:ln w="6350">
            <a:solidFill>
              <a:srgbClr val="1F314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" y="3474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3DF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1371600" y="3474720"/>
            <a:ext cx="101800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document contradicts the brief</a:t>
            </a:r>
            <a:endParaRPr lang="en-US" sz="1600" dirty="0"/>
          </a:p>
          <a:p>
            <a:pPr indent="0" marL="0">
              <a:buNone/>
            </a:pPr>
            <a:r>
              <a:rPr lang="en-US" sz="135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Locate the affected assumptions and recompute.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640080" y="4187952"/>
            <a:ext cx="10911535" cy="0"/>
          </a:xfrm>
          <a:prstGeom prst="line">
            <a:avLst/>
          </a:prstGeom>
          <a:noFill/>
          <a:ln w="6350">
            <a:solidFill>
              <a:srgbClr val="1F314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0080" y="4206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3DF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1371600" y="4206240"/>
            <a:ext cx="101800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Diligence budget is limited</a:t>
            </a:r>
            <a:endParaRPr lang="en-US" sz="1600" dirty="0"/>
          </a:p>
          <a:p>
            <a:pPr indent="0" marL="0">
              <a:buNone/>
            </a:pPr>
            <a:r>
              <a:rPr lang="en-US" sz="135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Prioritise the questions that can change the decision.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40080" y="4919472"/>
            <a:ext cx="10911535" cy="0"/>
          </a:xfrm>
          <a:prstGeom prst="line">
            <a:avLst/>
          </a:prstGeom>
          <a:noFill/>
          <a:ln w="6350">
            <a:solidFill>
              <a:srgbClr val="1F314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0080" y="4937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3DF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1371600" y="4937760"/>
            <a:ext cx="101800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to recommend</a:t>
            </a:r>
            <a:endParaRPr lang="en-US" sz="1600" dirty="0"/>
          </a:p>
          <a:p>
            <a:pPr indent="0" marL="0">
              <a:buNone/>
            </a:pPr>
            <a:r>
              <a:rPr lang="en-US" sz="135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a concise, traceable evidence pack.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640080" y="5650992"/>
            <a:ext cx="10911535" cy="0"/>
          </a:xfrm>
          <a:prstGeom prst="line">
            <a:avLst/>
          </a:prstGeom>
          <a:noFill/>
          <a:ln w="6350">
            <a:solidFill>
              <a:srgbClr val="1F3140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91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3DF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EXISTS TODAY</a:t>
            </a:r>
            <a:endParaRPr lang="en-US" sz="1100" dirty="0"/>
          </a:p>
        </p:txBody>
      </p:sp>
      <p:sp>
        <p:nvSpPr>
          <p:cNvPr id="3" name="Text 1">
            <a:hlinkClick r:id="rId1" tooltip=""/>
          </p:cNvPr>
          <p:cNvSpPr/>
          <p:nvPr/>
        </p:nvSpPr>
        <p:spPr>
          <a:xfrm>
            <a:off x="640080" y="635508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6F859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Source: Civarea public product page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10637215" y="63550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16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6291072"/>
            <a:ext cx="10911535" cy="0"/>
          </a:xfrm>
          <a:prstGeom prst="line">
            <a:avLst/>
          </a:prstGeom>
          <a:noFill/>
          <a:ln w="9525">
            <a:solidFill>
              <a:srgbClr val="1F314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731520"/>
            <a:ext cx="10911535" cy="1097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0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Screening tools exist. None is built for this evidence problem.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1153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651760"/>
                <a:gridCol w="3291840"/>
                <a:gridCol w="2864815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3DFC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Category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3DFC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Examples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3DFC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we learned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3DFC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gap we see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8BAC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Commercial screening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3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8BAC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Civarea, DC Byte Site Selector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3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8BAC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Polygon-led screening, evidence views, exports. Speed and coverage figures are vendor claims.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3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0F5F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India-focused; unknowns folded into scores.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31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8BAC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Open-source siting engines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3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8BAC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TerraSelect (EU), CERF-DC (US), OSDCI (US), Decision Explorer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3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8BAC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Transparent pass/fail and cost structures; EU and US data and weights.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3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0F5F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unknown or conflict state; no private-document reconciliation.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31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8BAC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Advisory practice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3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8BAC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Data-centre advisory teams at large brokerages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3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8BAC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workflow is real and repeated; evidence lives in documents and heads.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3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0F5F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reconciliation; nothing versioned or exportable.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31C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640080" y="4983480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6F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 alone is not a moat. A durable advantage would need local evidence integrations, expert-reviewed workflows and measured reliability. For now these are product hypotheses, not proven unique capabilities.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91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3DF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DESIGN QUESTIONS THE PROBLEM FORCES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35508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 Atlas · Bhopal Claude Code Build Day · 20 September 2026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10637215" y="63550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16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6291072"/>
            <a:ext cx="10911535" cy="0"/>
          </a:xfrm>
          <a:prstGeom prst="line">
            <a:avLst/>
          </a:prstGeom>
          <a:noFill/>
          <a:ln w="9525">
            <a:solidFill>
              <a:srgbClr val="1F314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731520"/>
            <a:ext cx="10911535" cy="10058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0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 map, why an agent, why now.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640080" y="1920240"/>
            <a:ext cx="3423818" cy="3291840"/>
          </a:xfrm>
          <a:prstGeom prst="roundRect">
            <a:avLst>
              <a:gd name="adj" fmla="val 2222"/>
            </a:avLst>
          </a:prstGeom>
          <a:solidFill>
            <a:srgbClr val="122330"/>
          </a:solidFill>
          <a:ln w="9525">
            <a:solidFill>
              <a:srgbClr val="1F314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2084832"/>
            <a:ext cx="45720" cy="2962656"/>
          </a:xfrm>
          <a:prstGeom prst="rect">
            <a:avLst/>
          </a:prstGeom>
          <a:solidFill>
            <a:srgbClr val="7EBBFF"/>
          </a:solidFill>
          <a:ln w="12700">
            <a:solidFill>
              <a:srgbClr val="7EBB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41248" y="2057400"/>
            <a:ext cx="3103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 MAP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2359152"/>
            <a:ext cx="305805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Sites have neighbours: substations, carrier facilities, rivers, other candidates. Geography makes those relationships inspectable. It is not proof of feasibility by itself.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383938" y="1920240"/>
            <a:ext cx="3423818" cy="3291840"/>
          </a:xfrm>
          <a:prstGeom prst="roundRect">
            <a:avLst>
              <a:gd name="adj" fmla="val 2222"/>
            </a:avLst>
          </a:prstGeom>
          <a:solidFill>
            <a:srgbClr val="122330"/>
          </a:solidFill>
          <a:ln w="9525">
            <a:solidFill>
              <a:srgbClr val="1F314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383938" y="2084832"/>
            <a:ext cx="45720" cy="2962656"/>
          </a:xfrm>
          <a:prstGeom prst="rect">
            <a:avLst/>
          </a:prstGeom>
          <a:solidFill>
            <a:srgbClr val="43DFC3"/>
          </a:solidFill>
          <a:ln w="12700">
            <a:solidFill>
              <a:srgbClr val="43DFC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585106" y="2057400"/>
            <a:ext cx="3103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AN AGENT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4585106" y="2359152"/>
            <a:ext cx="305805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project brings different documents, requirements and gaps. Something has to read them, notice contradictions and decide which check comes next. The arithmetic must never be that something.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127797" y="1920240"/>
            <a:ext cx="3423818" cy="3291840"/>
          </a:xfrm>
          <a:prstGeom prst="roundRect">
            <a:avLst>
              <a:gd name="adj" fmla="val 2222"/>
            </a:avLst>
          </a:prstGeom>
          <a:solidFill>
            <a:srgbClr val="122330"/>
          </a:solidFill>
          <a:ln w="9525">
            <a:solidFill>
              <a:srgbClr val="1F314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127797" y="2084832"/>
            <a:ext cx="45720" cy="2962656"/>
          </a:xfrm>
          <a:prstGeom prst="rect">
            <a:avLst/>
          </a:prstGeom>
          <a:solidFill>
            <a:srgbClr val="FFCC75"/>
          </a:solidFill>
          <a:ln w="12700">
            <a:solidFill>
              <a:srgbClr val="FFCC7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28965" y="2057400"/>
            <a:ext cx="3103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NOW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8328965" y="2359152"/>
            <a:ext cx="305805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 is projected to nearly double by 2030. India is empaneling tens of thousands of GPUs. Modular facilities widen the set of places worth investigating. More sites, same fragmented evidence.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91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3DF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STATEMENT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35508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 Atlas · Bhopal Claude Code Build Day · 20 September 2026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10637215" y="63550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16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6291072"/>
            <a:ext cx="10911535" cy="0"/>
          </a:xfrm>
          <a:prstGeom prst="line">
            <a:avLst/>
          </a:prstGeom>
          <a:noFill/>
          <a:ln w="9525">
            <a:solidFill>
              <a:srgbClr val="1F314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914400"/>
            <a:ext cx="73152" cy="2194560"/>
          </a:xfrm>
          <a:prstGeom prst="rect">
            <a:avLst/>
          </a:prstGeom>
          <a:solidFill>
            <a:srgbClr val="43DFC3"/>
          </a:solidFill>
          <a:ln w="12700">
            <a:solidFill>
              <a:srgbClr val="43DFC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868680"/>
            <a:ext cx="10545775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0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agent that investigates whether a proposed Indian data-centre site can meet a project's requirements — and shows exactly what remains unproven.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640080" y="3657600"/>
            <a:ext cx="3454298" cy="1737360"/>
          </a:xfrm>
          <a:prstGeom prst="roundRect">
            <a:avLst>
              <a:gd name="adj" fmla="val 4211"/>
            </a:avLst>
          </a:prstGeom>
          <a:solidFill>
            <a:srgbClr val="122330"/>
          </a:solidFill>
          <a:ln w="9525">
            <a:solidFill>
              <a:srgbClr val="1F314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" y="3822192"/>
            <a:ext cx="45720" cy="1408176"/>
          </a:xfrm>
          <a:prstGeom prst="rect">
            <a:avLst/>
          </a:prstGeom>
          <a:solidFill>
            <a:srgbClr val="43DFC3"/>
          </a:solidFill>
          <a:ln w="12700">
            <a:solidFill>
              <a:srgbClr val="43DFC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41248" y="3794760"/>
            <a:ext cx="313425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REMEMBER 1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41248" y="4096512"/>
            <a:ext cx="308853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has physical requirements.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Power, cooling, water, land, fibre, time.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4368698" y="3657600"/>
            <a:ext cx="3454298" cy="1737360"/>
          </a:xfrm>
          <a:prstGeom prst="roundRect">
            <a:avLst>
              <a:gd name="adj" fmla="val 4211"/>
            </a:avLst>
          </a:prstGeom>
          <a:solidFill>
            <a:srgbClr val="122330"/>
          </a:solidFill>
          <a:ln w="9525">
            <a:solidFill>
              <a:srgbClr val="1F314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368698" y="3822192"/>
            <a:ext cx="45720" cy="1408176"/>
          </a:xfrm>
          <a:prstGeom prst="rect">
            <a:avLst/>
          </a:prstGeom>
          <a:solidFill>
            <a:srgbClr val="43DFC3"/>
          </a:solidFill>
          <a:ln w="12700">
            <a:solidFill>
              <a:srgbClr val="43DFC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569866" y="3794760"/>
            <a:ext cx="313425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REMEMBER 2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4569866" y="4096512"/>
            <a:ext cx="308853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 choices combine interacting constraints.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requirement change can flip a site.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8097317" y="3657600"/>
            <a:ext cx="3454298" cy="1737360"/>
          </a:xfrm>
          <a:prstGeom prst="roundRect">
            <a:avLst>
              <a:gd name="adj" fmla="val 4211"/>
            </a:avLst>
          </a:prstGeom>
          <a:solidFill>
            <a:srgbClr val="122330"/>
          </a:solidFill>
          <a:ln w="9525">
            <a:solidFill>
              <a:srgbClr val="1F314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097317" y="3822192"/>
            <a:ext cx="45720" cy="1408176"/>
          </a:xfrm>
          <a:prstGeom prst="rect">
            <a:avLst/>
          </a:prstGeom>
          <a:solidFill>
            <a:srgbClr val="43DFC3"/>
          </a:solidFill>
          <a:ln w="12700">
            <a:solidFill>
              <a:srgbClr val="43DFC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98485" y="3794760"/>
            <a:ext cx="313425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REMEMBER 3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8298485" y="4096512"/>
            <a:ext cx="308853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good system says what it knows and what still needs proof.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A8BA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 is an answer. So is conflict.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640080" y="562356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F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Deck 2 shows how Compute Atlas does this, what we chose not to do, and what we measured.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Compute Atlas — The problem</dc:title>
  <dc:subject>PptxGenJS Presentation</dc:subject>
  <dc:creator>Compute Atlas</dc:creator>
  <cp:lastModifiedBy>Compute Atlas</cp:lastModifiedBy>
  <cp:revision>1</cp:revision>
  <dcterms:created xsi:type="dcterms:W3CDTF">2026-09-20T07:53:21Z</dcterms:created>
  <dcterms:modified xsi:type="dcterms:W3CDTF">2026-09-20T07:53:21Z</dcterms:modified>
</cp:coreProperties>
</file>